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Lezione Interattiva sui Bias Cognitivi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Tutti i 22 Esperimenti Kahneman</a:t>
            </a:r>
          </a:p>
          <a:p>
            <a:r>
              <a:t>(Inquadra i QR code per rispondere in tempo reale!)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1. Loftus &amp; Palmer — Falsi Ricordi (Velocità Auto)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Hai appena visto un breve video di un incidente tra due automobili.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A che velocità (in km/h) andavano le auto quando si sono urtate?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A che velocità (in km/h) andavano le auto quando si sono disintegrate?</a:t>
            </a:r>
            <a:br/>
          </a:p>
          <a:p>
            <a:pPr>
              <a:defRPr sz="1100" i="1">
                <a:solidFill>
                  <a:srgbClr val="646464"/>
                </a:solidFill>
              </a:defRPr>
            </a:pPr>
            <a:r>
              <a:t>💡 Extra:</a:t>
            </a:r>
            <a:br/>
            <a:r>
              <a:t>Domanda comune: Hai notato dei vetri rotti a terra? (Sì / No)</a:t>
            </a:r>
          </a:p>
        </p:txBody>
      </p:sp>
      <p:pic>
        <p:nvPicPr>
          <p:cNvPr id="4" name="Picture 3" descr="Macch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2. Asian Disease Problem — Framing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Un'epidemia asiatica minaccia 600 persone. Due programmi possibili: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Programma A: 200 salvati di sicuro.</a:t>
            </a:r>
            <a:br/>
            <a:r>
              <a:t>Programma B: 1/3 probabilità di salvare tutti e 600, 2/3 nessuno.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Programma A: 400 morti di sicuro.</a:t>
            </a:r>
            <a:br/>
            <a:r>
              <a:t>Programma B: 1/3 probabilità che non muoia nessuno, 2/3 che muoiano tutti e 600.</a:t>
            </a:r>
            <a:br/>
          </a:p>
        </p:txBody>
      </p:sp>
      <p:pic>
        <p:nvPicPr>
          <p:cNvPr id="4" name="Picture 3" descr="Malattia_Asia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3. Chirurgia Robotica AI — Framing Medico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Un software robotico AI deve eseguire un intervento su 100 pazienti critici.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Dato statistico: 90 pazienti sopravviveranno.</a:t>
            </a:r>
            <a:br/>
            <a:r>
              <a:t>Autorizzi l'uso del software? (Sì / No)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Dato statistico: 10 pazienti moriranno.</a:t>
            </a:r>
            <a:br/>
            <a:r>
              <a:t>Autorizzi l'uso del software? (Sì / No)</a:t>
            </a:r>
            <a:br/>
          </a:p>
        </p:txBody>
      </p:sp>
      <p:pic>
        <p:nvPicPr>
          <p:cNvPr id="4" name="Picture 3" descr="Framing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4. Ancoraggio — Età di Gandhi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Stima dell'età di morte di Mahatma Gandhi.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1. Gandhi è morto prima o dopo i 114 anni?</a:t>
            </a:r>
            <a:br/>
            <a:r>
              <a:t>2. Stima l'età esatta alla morte (anni).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1. Gandhi è morto prima o dopo i 35 anni?</a:t>
            </a:r>
            <a:br/>
            <a:r>
              <a:t>2. Stima l'età esatta alla morte (anni).</a:t>
            </a:r>
            <a:br/>
          </a:p>
        </p:txBody>
      </p:sp>
      <p:pic>
        <p:nvPicPr>
          <p:cNvPr id="4" name="Picture 3" descr="Ancoraggio_Gand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5. Ancoraggio Medico — Ruota della Fortuna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Una ruota della fortuna estrae un numero prima della stima diagnostica.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Numero estratto dalla ruota: 12</a:t>
            </a:r>
            <a:br/>
            <a:r>
              <a:t>Domanda: Qual è la % di diagnosi errate dovute a stanchezza del medico?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Numero estratto dalla ruota: 65</a:t>
            </a:r>
            <a:br/>
            <a:r>
              <a:t>Domanda: Qual è la % di diagnosi errate dovute a stanchezza del medico?</a:t>
            </a:r>
            <a:br/>
          </a:p>
        </p:txBody>
      </p:sp>
      <p:pic>
        <p:nvPicPr>
          <p:cNvPr id="4" name="Picture 3" descr="Ancoraggio_Rou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6. Avversione alle Perdite — Scelte Finanziarie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Valutazione del rischio tra vincite certe e perdite certe.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Ricevi 1.000€.</a:t>
            </a:r>
            <a:br/>
            <a:r>
              <a:t>A) Vinci altri 500€ sicuri (100%)</a:t>
            </a:r>
            <a:br/>
            <a:r>
              <a:t>B) Lancio moneta: 50% vinci 1.000€, 50% vinci 0€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Ricevi 2.000€.</a:t>
            </a:r>
            <a:br/>
            <a:r>
              <a:t>A) Perdi 500€ sicuri (100%)</a:t>
            </a:r>
            <a:br/>
            <a:r>
              <a:t>B) Lancio moneta: 50% perdi 1.000€, 50% perdi 0€</a:t>
            </a:r>
            <a:br/>
          </a:p>
        </p:txBody>
      </p:sp>
      <p:pic>
        <p:nvPicPr>
          <p:cNvPr id="4" name="Picture 3" descr="Avversione_Perd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7. Illusione di Verità — Effetto Font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Valutazione affermazione: 'L'assunzione di Omega-3 riduce del 15% le infiammazioni corporee.'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Formattazione: Arial grassetto nero ad alta visibilità.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Formattazione: Comic Sans sbiadito grigio a bassa visibilità.</a:t>
            </a:r>
            <a:br/>
          </a:p>
          <a:p>
            <a:pPr>
              <a:defRPr sz="1100" i="1">
                <a:solidFill>
                  <a:srgbClr val="646464"/>
                </a:solidFill>
              </a:defRPr>
            </a:pPr>
            <a:r>
              <a:t>💡 Extra:</a:t>
            </a:r>
            <a:br/>
            <a:r>
              <a:t>Domanda: Da 1 a 10, quanto ti sembra vera e scientifica questa frase?</a:t>
            </a:r>
          </a:p>
        </p:txBody>
      </p:sp>
      <p:pic>
        <p:nvPicPr>
          <p:cNvPr id="4" name="Picture 3" descr="Illusione_Ver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8. Availability Heuristic — Euristica della Disponibilità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Richiamo alla memoria di comportamenti assertivi.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1. Elenca 2 situazioni in cui sei stato assertivo.</a:t>
            </a:r>
            <a:br/>
            <a:r>
              <a:t>2. Valuta quanto ti ritieni assertivo (1-10).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1. Elenca 12 situazioni in cui sei stato assertivo.</a:t>
            </a:r>
            <a:br/>
            <a:r>
              <a:t>2. Valuta quanto ti ritieni assertivo (1-10).</a:t>
            </a:r>
            <a:br/>
          </a:p>
        </p:txBody>
      </p:sp>
      <p:pic>
        <p:nvPicPr>
          <p:cNvPr id="4" name="Picture 3" descr="Euristica_Disponibil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9. Il Problema di Linda — Fallacia della Congiunzione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Linda ha 31 anni, single, brillante, laureata in filosofia, attiva contro la discriminazione e nelle manifestazioni antinucleari.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Qual è la probabilità (0-100%) che Linda sia una cassiera di banca?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Qual è la probabilità (0-100%) che Linda sia una cassiera di banca e attiva nel movimento femminista?</a:t>
            </a:r>
            <a:br/>
          </a:p>
        </p:txBody>
      </p:sp>
      <p:pic>
        <p:nvPicPr>
          <p:cNvPr id="4" name="Picture 3" descr="Problema_Li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10. Effetto Alone — Modello Asch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Valutazione di un collega basata su un elenco ordinato di aggettivi.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Alan: Intelligente, laborioso, impulsivo, critico, ostinato, invidioso.</a:t>
            </a:r>
            <a:br/>
            <a:r>
              <a:t>Valutazione sul lavoro (1-10).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Ben: Invidioso, ostinato, critico, impulsivo, laborioso, intelligente.</a:t>
            </a:r>
            <a:br/>
            <a:r>
              <a:t>Valutazione sul lavoro (1-10).</a:t>
            </a:r>
            <a:br/>
          </a:p>
        </p:txBody>
      </p:sp>
      <p:pic>
        <p:nvPicPr>
          <p:cNvPr id="4" name="Picture 3" descr="Effetto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11. Effetto Dote — Tazza di Thaler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Mercato libero di compravendita di una tazza dell'istituto.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Venditori: Ti è stata regalata la tazza.</a:t>
            </a:r>
            <a:br/>
            <a:r>
              <a:t>Prezzo minimo (€) a cui la venderesti.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Compratori: Un compagno ha ricevuto la tazza.</a:t>
            </a:r>
            <a:br/>
            <a:r>
              <a:t>Prezzo massimo (€) che pagheresti.</a:t>
            </a:r>
            <a:br/>
          </a:p>
        </p:txBody>
      </p:sp>
      <p:pic>
        <p:nvPicPr>
          <p:cNvPr id="4" name="Picture 3" descr="Effetto_Dote_Ta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12. Effetto Dote — Licenza Software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Mercato per una Licenza Software AI diagnostica.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Proprietario: Hai in regalo la licenza.</a:t>
            </a:r>
            <a:br/>
            <a:r>
              <a:t>Prezzo minimo (€) richiesto per cederla.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Acquirente: Un ospedale vende la licenza.</a:t>
            </a:r>
            <a:br/>
            <a:r>
              <a:t>Prezzo massimo (€) che pagheresti.</a:t>
            </a:r>
            <a:br/>
          </a:p>
        </p:txBody>
      </p:sp>
      <p:pic>
        <p:nvPicPr>
          <p:cNvPr id="4" name="Picture 3" descr="Effetto_Dot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13. Costi Sommersi — Spettacolo a Teatro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Tormenta di neve la sera dello spettacolo teatrale.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Biglietto acquistato a 50€.</a:t>
            </a:r>
            <a:br/>
            <a:r>
              <a:t>A) Vado a teatro lo stesso (sfido la tormenta)</a:t>
            </a:r>
            <a:br/>
            <a:r>
              <a:t>B) Resto a casa al caldo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Biglietto regalato (0€).</a:t>
            </a:r>
            <a:br/>
            <a:r>
              <a:t>A) Vado a teatro lo stesso</a:t>
            </a:r>
            <a:br/>
            <a:r>
              <a:t>B) Resto a casa al caldo</a:t>
            </a:r>
            <a:br/>
          </a:p>
        </p:txBody>
      </p:sp>
      <p:pic>
        <p:nvPicPr>
          <p:cNvPr id="4" name="Picture 3" descr="Costi_Sommersi_Tea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14. Costi Sommersi — Progetto di Ricerca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Google lancia un algoritmo gratuito e migliore mentre sviluppi il tuo.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Iniziato il progetto OGGI (0 anni investiti).</a:t>
            </a:r>
            <a:br/>
            <a:r>
              <a:t>A) Continuo a sviluppare il mio</a:t>
            </a:r>
            <a:br/>
            <a:r>
              <a:t>B) Abbandono il mio progetto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Lavori al progetto da 4 ANNI (al 90%).</a:t>
            </a:r>
            <a:br/>
            <a:r>
              <a:t>A) Continuo a sviluppare il mio</a:t>
            </a:r>
            <a:br/>
            <a:r>
              <a:t>B) Abbandono il mio progetto</a:t>
            </a:r>
            <a:br/>
          </a:p>
        </p:txBody>
      </p:sp>
      <p:pic>
        <p:nvPicPr>
          <p:cNvPr id="4" name="Picture 3" descr="Costi_Sommersi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15. Effetto Default — Donazione Organi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Firma del nuovo modulo per dipendenti ospedalieri.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Modulo Opt-IN: [ ] Spunta se VUOI diventare donatore.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Modulo Opt-OUT: [v] Spunta se NON VUOI diventare donatore.</a:t>
            </a:r>
            <a:br/>
          </a:p>
        </p:txBody>
      </p:sp>
      <p:pic>
        <p:nvPicPr>
          <p:cNvPr id="4" name="Picture 3" descr="Effett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16. Priming Associativo — Completamento Parole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Priming semantico sul completamento della parola S O _ P.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Lettura veloce: FORCHETTA, PRANZO, FAME.</a:t>
            </a:r>
            <a:br/>
            <a:r>
              <a:t>Completa la parola: S O _ P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Lettura veloce: DOCCIA, SCHIUMA, PULITO.</a:t>
            </a:r>
            <a:br/>
            <a:r>
              <a:t>Completa la parola: S O _ P</a:t>
            </a:r>
            <a:br/>
          </a:p>
        </p:txBody>
      </p:sp>
      <p:pic>
        <p:nvPicPr>
          <p:cNvPr id="4" name="Picture 3" descr="Priming_Associ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17. Illusione di Superiorità — Dunning-Kruger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Autovalutazione delle proprie abilità accademiche.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Ritieni la tua abilità accademica superiore alla media della classe?</a:t>
            </a:r>
            <a:br/>
            <a:r>
              <a:t>(Sopra la media / Nella media / Sotto la media)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Ritieni la tua abilità accademica superiore a quella di Giorgio Parisi (Nobel)?</a:t>
            </a:r>
            <a:br/>
            <a:r>
              <a:t>(Sopra la sua / Nella sua / Sotto la sua)</a:t>
            </a:r>
            <a:br/>
          </a:p>
        </p:txBody>
      </p:sp>
      <p:pic>
        <p:nvPicPr>
          <p:cNvPr id="4" name="Picture 3" descr="Dunning_Kru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18. WYSIATI — What You See Is All There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Verdetto in un processo penale con evidenze sbilanciate.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Presentata solo la testimonianza della Difesa.</a:t>
            </a:r>
            <a:br/>
            <a:r>
              <a:t>Stima colpevolezza (0-100) e sicurezza (1-10).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Presentata solo la testimonianza del PM.</a:t>
            </a:r>
            <a:br/>
            <a:r>
              <a:t>Stima colpevolezza (0-100) e sicurezza (1-10).</a:t>
            </a:r>
            <a:br/>
          </a:p>
        </p:txBody>
      </p:sp>
      <p:pic>
        <p:nvPicPr>
          <p:cNvPr id="4" name="Picture 3" descr="WYSI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19. Illusione di Focalizzazione — Felicità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Ordine delle domande sul benessere e vita sentimentale.</a:t>
            </a:r>
            <a:br/>
          </a:p>
          <a:p>
            <a:pPr>
              <a:defRPr sz="1200" b="1">
                <a:solidFill>
                  <a:srgbClr val="1E5AC8"/>
                </a:solidFill>
              </a:defRPr>
            </a:pPr>
            <a:r>
              <a:t>🅰️ Gruppo A / Group A:</a:t>
            </a:r>
            <a:br/>
            <a:r>
              <a:t>1. Quanto sei felice (1-10)?</a:t>
            </a:r>
            <a:br/>
            <a:r>
              <a:t>2. Quante uscite romantiche nell'ultimo mese?</a:t>
            </a:r>
            <a:br/>
          </a:p>
          <a:p>
            <a:pPr>
              <a:defRPr sz="1200" b="1">
                <a:solidFill>
                  <a:srgbClr val="C8325A"/>
                </a:solidFill>
              </a:defRPr>
            </a:pPr>
            <a:r>
              <a:t>🅱️ Gruppo B / Group B:</a:t>
            </a:r>
            <a:br/>
            <a:r>
              <a:t>1. Quante uscite romantiche nell'ultimo mese?</a:t>
            </a:r>
            <a:br/>
            <a:r>
              <a:t>2. Quanto sei felice (1-10)?</a:t>
            </a:r>
            <a:br/>
          </a:p>
        </p:txBody>
      </p:sp>
      <p:pic>
        <p:nvPicPr>
          <p:cNvPr id="4" name="Picture 3" descr="Illusione_Focalizzazi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20. Base Rate Neglect — Paradosso Diagnostico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Malattia rara al 1% della popolazione. Test preciso al 95%. Risulti POSITIVO.</a:t>
            </a:r>
            <a:br/>
          </a:p>
          <a:p>
            <a:pPr>
              <a:defRPr sz="1300" b="1">
                <a:solidFill>
                  <a:srgbClr val="1E965A"/>
                </a:solidFill>
              </a:defRPr>
            </a:pPr>
            <a:r>
              <a:t>❓ Domanda / Question:</a:t>
            </a:r>
            <a:br/>
            <a:r>
              <a:t>Qual è la probabilità effettiva (0-100%) che tu sia realmente malato?</a:t>
            </a:r>
            <a:br/>
            <a:r>
              <a:t>(Risposta statistica corretta: ~16%)</a:t>
            </a:r>
            <a:br/>
          </a:p>
        </p:txBody>
      </p:sp>
      <p:pic>
        <p:nvPicPr>
          <p:cNvPr id="4" name="Picture 3" descr="Base_Rate_Neg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21. Decoy Effect — L'Esca (The Economist)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Scegli un abbonamento alla rivista The Economist:</a:t>
            </a:r>
            <a:br/>
          </a:p>
          <a:p>
            <a:pPr>
              <a:defRPr sz="1300" b="1">
                <a:solidFill>
                  <a:srgbClr val="1E965A"/>
                </a:solidFill>
              </a:defRPr>
            </a:pPr>
            <a:r>
              <a:t>❓ Domanda / Question:</a:t>
            </a:r>
            <a:br/>
            <a:r>
              <a:t>A) Solo Web (50€)</a:t>
            </a:r>
            <a:br/>
            <a:r>
              <a:t>B) Solo Cartaceo (120€ - Opzione Esca)</a:t>
            </a:r>
            <a:br/>
            <a:r>
              <a:t>C) Web + Cartaceo (120€)</a:t>
            </a:r>
            <a:br/>
          </a:p>
        </p:txBody>
      </p:sp>
      <p:pic>
        <p:nvPicPr>
          <p:cNvPr id="4" name="Picture 3" descr="L_E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63FF"/>
                </a:solidFill>
              </a:defRPr>
            </a:pPr>
            <a:r>
              <a:t>22. Regressione alla Media — Lode vs Castigo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📌 Scenario:</a:t>
            </a:r>
            <a:br/>
            <a:r>
              <a:t>Istruttori di volo: sgridare migliora l'atterraggio successivo, lodare lo peggiora.</a:t>
            </a:r>
            <a:br/>
          </a:p>
          <a:p>
            <a:pPr>
              <a:defRPr sz="1300" b="1">
                <a:solidFill>
                  <a:srgbClr val="1E965A"/>
                </a:solidFill>
              </a:defRPr>
            </a:pPr>
            <a:r>
              <a:t>❓ Domanda / Question:</a:t>
            </a:r>
            <a:br/>
            <a:r>
              <a:t>A) Intuizione psicologica (la lode vizia, il castigo funziona)</a:t>
            </a:r>
            <a:br/>
            <a:r>
              <a:t>B) Errore statistico (regressione alla media)</a:t>
            </a:r>
            <a:br/>
          </a:p>
        </p:txBody>
      </p:sp>
      <p:pic>
        <p:nvPicPr>
          <p:cNvPr id="4" name="Picture 3" descr="Regressione_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</a:defRPr>
            </a:pPr>
            <a:r>
              <a:t>📱 Inquadra il QR code con la tua fotocamera per partecipare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