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Interactive Lesson on Cognitive Biases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All 22 Kahneman Experiments</a:t>
            </a:r>
          </a:p>
          <a:p>
            <a:r>
              <a:t>(Scan the QR code to answer in real-time!)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1. Loftus &amp; Palmer — Car Crash Experiment (False Memories)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C3C3C"/>
                </a:solidFill>
              </a:defRPr>
            </a:pPr>
            <a:r>
              <a:t>📌 Scenario:</a:t>
            </a:r>
            <a:br/>
            <a:r>
              <a:t>You have just watched a short video clip of an automobile accident.</a:t>
            </a:r>
            <a:br/>
          </a:p>
          <a:p>
            <a:pPr>
              <a:defRPr sz="1200" b="1">
                <a:solidFill>
                  <a:srgbClr val="1E5AC8"/>
                </a:solidFill>
              </a:defRPr>
            </a:pPr>
            <a:r>
              <a:t>🅰️ Gruppo A / Group A:</a:t>
            </a:r>
            <a:br/>
            <a:r>
              <a:t>How fast (in km/h) were the cars going when they HIT each other?</a:t>
            </a:r>
            <a:br/>
          </a:p>
          <a:p>
            <a:pPr>
              <a:defRPr sz="1200" b="1">
                <a:solidFill>
                  <a:srgbClr val="C8325A"/>
                </a:solidFill>
              </a:defRPr>
            </a:pPr>
            <a:r>
              <a:t>🅱️ Gruppo B / Group B:</a:t>
            </a:r>
            <a:br/>
            <a:r>
              <a:t>How fast (in km/h) were the cars going when they SMASHED into each other?</a:t>
            </a:r>
            <a:br/>
          </a:p>
          <a:p>
            <a:pPr>
              <a:defRPr sz="1100" i="1">
                <a:solidFill>
                  <a:srgbClr val="646464"/>
                </a:solidFill>
              </a:defRPr>
            </a:pPr>
            <a:r>
              <a:t>💡 Extra:</a:t>
            </a:r>
            <a:br/>
            <a:r>
              <a:t>Common question: Did you see any broken glass on the ground? (Yes / No)</a:t>
            </a:r>
          </a:p>
        </p:txBody>
      </p:sp>
      <p:pic>
        <p:nvPicPr>
          <p:cNvPr id="4" name="Picture 3" descr="Macchina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2743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52160" y="46634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2. Asian Disease Problem — Framing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C3C3C"/>
                </a:solidFill>
              </a:defRPr>
            </a:pPr>
            <a:r>
              <a:t>📌 Scenario:</a:t>
            </a:r>
            <a:br/>
            <a:r>
              <a:t>An unusual Asian disease is expected to kill 600 people. Two programs proposed:</a:t>
            </a:r>
            <a:br/>
          </a:p>
          <a:p>
            <a:pPr>
              <a:defRPr sz="1200" b="1">
                <a:solidFill>
                  <a:srgbClr val="1E5AC8"/>
                </a:solidFill>
              </a:defRPr>
            </a:pPr>
            <a:r>
              <a:t>🅰️ Gruppo A / Group A:</a:t>
            </a:r>
            <a:br/>
            <a:r>
              <a:t>Program A: 200 people saved for sure.</a:t>
            </a:r>
            <a:br/>
            <a:r>
              <a:t>Program B: 1/3 probability 600 saved, 2/3 nobody saved.</a:t>
            </a:r>
            <a:br/>
          </a:p>
          <a:p>
            <a:pPr>
              <a:defRPr sz="1200" b="1">
                <a:solidFill>
                  <a:srgbClr val="C8325A"/>
                </a:solidFill>
              </a:defRPr>
            </a:pPr>
            <a:r>
              <a:t>🅱️ Gruppo B / Group B:</a:t>
            </a:r>
            <a:br/>
            <a:r>
              <a:t>Program A: 400 people die for sure.</a:t>
            </a:r>
            <a:br/>
            <a:r>
              <a:t>Program B: 1/3 probability nobody dies, 2/3 all 600 die.</a:t>
            </a:r>
            <a:br/>
          </a:p>
        </p:txBody>
      </p:sp>
      <p:pic>
        <p:nvPicPr>
          <p:cNvPr id="4" name="Picture 3" descr="Malattia_Asiatica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2743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52160" y="46634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3. AI Robotic Surgery — Medical Framing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C3C3C"/>
                </a:solidFill>
              </a:defRPr>
            </a:pPr>
            <a:r>
              <a:t>📌 Scenario:</a:t>
            </a:r>
            <a:br/>
            <a:r>
              <a:t>An AI robotic surgical software will perform surgery on 100 patients in critical condition.</a:t>
            </a:r>
            <a:br/>
          </a:p>
          <a:p>
            <a:pPr>
              <a:defRPr sz="1200" b="1">
                <a:solidFill>
                  <a:srgbClr val="1E5AC8"/>
                </a:solidFill>
              </a:defRPr>
            </a:pPr>
            <a:r>
              <a:t>🅰️ Gruppo A / Group A:</a:t>
            </a:r>
            <a:br/>
            <a:r>
              <a:t>Statistical data: 90 patients will survive. Do you authorize the software? (Yes / No)</a:t>
            </a:r>
            <a:br/>
          </a:p>
          <a:p>
            <a:pPr>
              <a:defRPr sz="1200" b="1">
                <a:solidFill>
                  <a:srgbClr val="C8325A"/>
                </a:solidFill>
              </a:defRPr>
            </a:pPr>
            <a:r>
              <a:t>🅱️ Gruppo B / Group B:</a:t>
            </a:r>
            <a:br/>
            <a:r>
              <a:t>Statistical data: 10 patients will die. Do you authorize the software? (Yes / No)</a:t>
            </a:r>
            <a:br/>
          </a:p>
        </p:txBody>
      </p:sp>
      <p:pic>
        <p:nvPicPr>
          <p:cNvPr id="4" name="Picture 3" descr="Framing_AI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2743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52160" y="46634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4. Anchoring Effect — Gandhi's 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C3C3C"/>
                </a:solidFill>
              </a:defRPr>
            </a:pPr>
            <a:r>
              <a:t>📌 Scenario:</a:t>
            </a:r>
            <a:br/>
            <a:r>
              <a:t>Estimating Mahatma Gandhi's age at death.</a:t>
            </a:r>
            <a:br/>
          </a:p>
          <a:p>
            <a:pPr>
              <a:defRPr sz="1200" b="1">
                <a:solidFill>
                  <a:srgbClr val="1E5AC8"/>
                </a:solidFill>
              </a:defRPr>
            </a:pPr>
            <a:r>
              <a:t>🅰️ Gruppo A / Group A:</a:t>
            </a:r>
            <a:br/>
            <a:r>
              <a:t>1. Did Gandhi die before or after age 114?</a:t>
            </a:r>
            <a:br/>
            <a:r>
              <a:t>2. Estimate his exact age at death (years).</a:t>
            </a:r>
            <a:br/>
          </a:p>
          <a:p>
            <a:pPr>
              <a:defRPr sz="1200" b="1">
                <a:solidFill>
                  <a:srgbClr val="C8325A"/>
                </a:solidFill>
              </a:defRPr>
            </a:pPr>
            <a:r>
              <a:t>🅱️ Gruppo B / Group B:</a:t>
            </a:r>
            <a:br/>
            <a:r>
              <a:t>1. Did Gandhi die before or after age 35?</a:t>
            </a:r>
            <a:br/>
            <a:r>
              <a:t>2. Estimate his exact age at death (years).</a:t>
            </a:r>
            <a:br/>
          </a:p>
        </p:txBody>
      </p:sp>
      <p:pic>
        <p:nvPicPr>
          <p:cNvPr id="4" name="Picture 3" descr="Ancoraggio_Gandhi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2743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52160" y="46634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5. Medical Anchoring — Roulette Wheel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C3C3C"/>
                </a:solidFill>
              </a:defRPr>
            </a:pPr>
            <a:r>
              <a:t>📌 Scenario:</a:t>
            </a:r>
            <a:br/>
            <a:r>
              <a:t>A roulette wheel spins an apparently random number before diagnostic estimation.</a:t>
            </a:r>
            <a:br/>
          </a:p>
          <a:p>
            <a:pPr>
              <a:defRPr sz="1200" b="1">
                <a:solidFill>
                  <a:srgbClr val="1E5AC8"/>
                </a:solidFill>
              </a:defRPr>
            </a:pPr>
            <a:r>
              <a:t>🅰️ Gruppo A / Group A:</a:t>
            </a:r>
            <a:br/>
            <a:r>
              <a:t>Wheel number: 12</a:t>
            </a:r>
            <a:br/>
            <a:r>
              <a:t>Question: What % of misdiagnoses are caused by doctor fatigue?</a:t>
            </a:r>
            <a:br/>
          </a:p>
          <a:p>
            <a:pPr>
              <a:defRPr sz="1200" b="1">
                <a:solidFill>
                  <a:srgbClr val="C8325A"/>
                </a:solidFill>
              </a:defRPr>
            </a:pPr>
            <a:r>
              <a:t>🅱️ Gruppo B / Group B:</a:t>
            </a:r>
            <a:br/>
            <a:r>
              <a:t>Wheel number: 65</a:t>
            </a:r>
            <a:br/>
            <a:r>
              <a:t>Question: What % of misdiagnoses are caused by doctor fatigue?</a:t>
            </a:r>
            <a:br/>
          </a:p>
        </p:txBody>
      </p:sp>
      <p:pic>
        <p:nvPicPr>
          <p:cNvPr id="4" name="Picture 3" descr="Ancoraggio_Roulette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2743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52160" y="46634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6. Loss Aversion — Financial Risk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C3C3C"/>
                </a:solidFill>
              </a:defRPr>
            </a:pPr>
            <a:r>
              <a:t>📌 Scenario:</a:t>
            </a:r>
            <a:br/>
            <a:r>
              <a:t>Evaluating risk choices between certain gains and certain losses.</a:t>
            </a:r>
            <a:br/>
          </a:p>
          <a:p>
            <a:pPr>
              <a:defRPr sz="1200" b="1">
                <a:solidFill>
                  <a:srgbClr val="1E5AC8"/>
                </a:solidFill>
              </a:defRPr>
            </a:pPr>
            <a:r>
              <a:t>🅰️ Gruppo A / Group A:</a:t>
            </a:r>
            <a:br/>
            <a:r>
              <a:t>You are given €1,000.</a:t>
            </a:r>
            <a:br/>
            <a:r>
              <a:t>A) Win €500 more for sure (100%)</a:t>
            </a:r>
            <a:br/>
            <a:r>
              <a:t>B) Coin flip: 50% win €1,000, 50% win €0</a:t>
            </a:r>
            <a:br/>
          </a:p>
          <a:p>
            <a:pPr>
              <a:defRPr sz="1200" b="1">
                <a:solidFill>
                  <a:srgbClr val="C8325A"/>
                </a:solidFill>
              </a:defRPr>
            </a:pPr>
            <a:r>
              <a:t>🅱️ Gruppo B / Group B:</a:t>
            </a:r>
            <a:br/>
            <a:r>
              <a:t>You are given €2,000.</a:t>
            </a:r>
            <a:br/>
            <a:r>
              <a:t>A) Lose €500 for sure (100%)</a:t>
            </a:r>
            <a:br/>
            <a:r>
              <a:t>B) Coin flip: 50% lose €1,000, 50% lose €0</a:t>
            </a:r>
            <a:br/>
          </a:p>
        </p:txBody>
      </p:sp>
      <p:pic>
        <p:nvPicPr>
          <p:cNvPr id="4" name="Picture 3" descr="Avversione_Perdite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2743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52160" y="46634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7. Illusion of Truth — Font Legibility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C3C3C"/>
                </a:solidFill>
              </a:defRPr>
            </a:pPr>
            <a:r>
              <a:t>📌 Scenario:</a:t>
            </a:r>
            <a:br/>
            <a:r>
              <a:t>Evaluation of statement: 'Taking Omega-3 reduces bodily inflammation by 15%.'</a:t>
            </a:r>
            <a:br/>
          </a:p>
          <a:p>
            <a:pPr>
              <a:defRPr sz="1200" b="1">
                <a:solidFill>
                  <a:srgbClr val="1E5AC8"/>
                </a:solidFill>
              </a:defRPr>
            </a:pPr>
            <a:r>
              <a:t>🅰️ Gruppo A / Group A:</a:t>
            </a:r>
            <a:br/>
            <a:r>
              <a:t>Presented in high-contrast bold Arial font.</a:t>
            </a:r>
            <a:br/>
          </a:p>
          <a:p>
            <a:pPr>
              <a:defRPr sz="1200" b="1">
                <a:solidFill>
                  <a:srgbClr val="C8325A"/>
                </a:solidFill>
              </a:defRPr>
            </a:pPr>
            <a:r>
              <a:t>🅱️ Gruppo B / Group B:</a:t>
            </a:r>
            <a:br/>
            <a:r>
              <a:t>Presented in low-contrast faded Comic Sans font.</a:t>
            </a:r>
            <a:br/>
          </a:p>
          <a:p>
            <a:pPr>
              <a:defRPr sz="1100" i="1">
                <a:solidFill>
                  <a:srgbClr val="646464"/>
                </a:solidFill>
              </a:defRPr>
            </a:pPr>
            <a:r>
              <a:t>💡 Extra:</a:t>
            </a:r>
            <a:br/>
            <a:r>
              <a:t>Question: On a scale of 1 to 10, how true and scientific does this statement seem?</a:t>
            </a:r>
          </a:p>
        </p:txBody>
      </p:sp>
      <p:pic>
        <p:nvPicPr>
          <p:cNvPr id="4" name="Picture 3" descr="Illusione_Verita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2743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52160" y="46634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8. Availability Heuristic — Memory Recall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C3C3C"/>
                </a:solidFill>
              </a:defRPr>
            </a:pPr>
            <a:r>
              <a:t>📌 Scenario:</a:t>
            </a:r>
            <a:br/>
            <a:r>
              <a:t>Recalling assertive personal behaviors.</a:t>
            </a:r>
            <a:br/>
          </a:p>
          <a:p>
            <a:pPr>
              <a:defRPr sz="1200" b="1">
                <a:solidFill>
                  <a:srgbClr val="1E5AC8"/>
                </a:solidFill>
              </a:defRPr>
            </a:pPr>
            <a:r>
              <a:t>🅰️ Gruppo A / Group A:</a:t>
            </a:r>
            <a:br/>
            <a:r>
              <a:t>1. List 2 situations where you were assertive.</a:t>
            </a:r>
            <a:br/>
            <a:r>
              <a:t>2. Rate how assertive you consider yourself (1-10).</a:t>
            </a:r>
            <a:br/>
          </a:p>
          <a:p>
            <a:pPr>
              <a:defRPr sz="1200" b="1">
                <a:solidFill>
                  <a:srgbClr val="C8325A"/>
                </a:solidFill>
              </a:defRPr>
            </a:pPr>
            <a:r>
              <a:t>🅱️ Gruppo B / Group B:</a:t>
            </a:r>
            <a:br/>
            <a:r>
              <a:t>1. List 12 situations where you were assertive.</a:t>
            </a:r>
            <a:br/>
            <a:r>
              <a:t>2. Rate how assertive you consider yourself (1-10).</a:t>
            </a:r>
            <a:br/>
          </a:p>
        </p:txBody>
      </p:sp>
      <p:pic>
        <p:nvPicPr>
          <p:cNvPr id="4" name="Picture 3" descr="Euristica_Disponibilita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2743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52160" y="46634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9. The Linda Problem — Conjunction Fallacy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C3C3C"/>
                </a:solidFill>
              </a:defRPr>
            </a:pPr>
            <a:r>
              <a:t>📌 Scenario:</a:t>
            </a:r>
            <a:br/>
            <a:r>
              <a:t>Linda is 31, single, outspoken, bright, philosophy major, deeply concerned with social justice and anti-nuclear protests.</a:t>
            </a:r>
            <a:br/>
          </a:p>
          <a:p>
            <a:pPr>
              <a:defRPr sz="1200" b="1">
                <a:solidFill>
                  <a:srgbClr val="1E5AC8"/>
                </a:solidFill>
              </a:defRPr>
            </a:pPr>
            <a:r>
              <a:t>🅰️ Gruppo A / Group A:</a:t>
            </a:r>
            <a:br/>
            <a:r>
              <a:t>What is the probability (0-100%) that Linda is a bank teller?</a:t>
            </a:r>
            <a:br/>
          </a:p>
          <a:p>
            <a:pPr>
              <a:defRPr sz="1200" b="1">
                <a:solidFill>
                  <a:srgbClr val="C8325A"/>
                </a:solidFill>
              </a:defRPr>
            </a:pPr>
            <a:r>
              <a:t>🅱️ Gruppo B / Group B:</a:t>
            </a:r>
            <a:br/>
            <a:r>
              <a:t>What is the probability (0-100%) that Linda is a bank teller and active in the feminist movement?</a:t>
            </a:r>
            <a:br/>
          </a:p>
        </p:txBody>
      </p:sp>
      <p:pic>
        <p:nvPicPr>
          <p:cNvPr id="4" name="Picture 3" descr="Problema_Linda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2743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52160" y="46634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10. Halo Effect — Asch Personality Impression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C3C3C"/>
                </a:solidFill>
              </a:defRPr>
            </a:pPr>
            <a:r>
              <a:t>📌 Scenario:</a:t>
            </a:r>
            <a:br/>
            <a:r>
              <a:t>Rating a colleague based on an ordered list of personality traits.</a:t>
            </a:r>
            <a:br/>
          </a:p>
          <a:p>
            <a:pPr>
              <a:defRPr sz="1200" b="1">
                <a:solidFill>
                  <a:srgbClr val="1E5AC8"/>
                </a:solidFill>
              </a:defRPr>
            </a:pPr>
            <a:r>
              <a:t>🅰️ Gruppo A / Group A:</a:t>
            </a:r>
            <a:br/>
            <a:r>
              <a:t>Alan: Intelligent, industrious, impulsive, critical, stubborn, envious.</a:t>
            </a:r>
            <a:br/>
            <a:r>
              <a:t>Rate Alan as a coworker (1-10).</a:t>
            </a:r>
            <a:br/>
          </a:p>
          <a:p>
            <a:pPr>
              <a:defRPr sz="1200" b="1">
                <a:solidFill>
                  <a:srgbClr val="C8325A"/>
                </a:solidFill>
              </a:defRPr>
            </a:pPr>
            <a:r>
              <a:t>🅱️ Gruppo B / Group B:</a:t>
            </a:r>
            <a:br/>
            <a:r>
              <a:t>Ben: Envious, stubborn, critical, impulsive, industrious, intelligent.</a:t>
            </a:r>
            <a:br/>
            <a:r>
              <a:t>Rate Ben as a coworker (1-10).</a:t>
            </a:r>
            <a:br/>
          </a:p>
        </p:txBody>
      </p:sp>
      <p:pic>
        <p:nvPicPr>
          <p:cNvPr id="4" name="Picture 3" descr="Effetto_Alone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2743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52160" y="46634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11. Endowment Effect — Thaler's Mug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C3C3C"/>
                </a:solidFill>
              </a:defRPr>
            </a:pPr>
            <a:r>
              <a:t>📌 Scenario:</a:t>
            </a:r>
            <a:br/>
            <a:r>
              <a:t>Trading market for an official university mug.</a:t>
            </a:r>
            <a:br/>
          </a:p>
          <a:p>
            <a:pPr>
              <a:defRPr sz="1200" b="1">
                <a:solidFill>
                  <a:srgbClr val="1E5AC8"/>
                </a:solidFill>
              </a:defRPr>
            </a:pPr>
            <a:r>
              <a:t>🅰️ Gruppo A / Group A:</a:t>
            </a:r>
            <a:br/>
            <a:r>
              <a:t>Sellers: You were GIVEN the mug.</a:t>
            </a:r>
            <a:br/>
            <a:r>
              <a:t>What is the minimum price (€) you will sell it for?</a:t>
            </a:r>
            <a:br/>
          </a:p>
          <a:p>
            <a:pPr>
              <a:defRPr sz="1200" b="1">
                <a:solidFill>
                  <a:srgbClr val="C8325A"/>
                </a:solidFill>
              </a:defRPr>
            </a:pPr>
            <a:r>
              <a:t>🅱️ Gruppo B / Group B:</a:t>
            </a:r>
            <a:br/>
            <a:r>
              <a:t>Buyers: A classmate has the mug.</a:t>
            </a:r>
            <a:br/>
            <a:r>
              <a:t>What is the maximum price (€) you are willing to pay?</a:t>
            </a:r>
            <a:br/>
          </a:p>
        </p:txBody>
      </p:sp>
      <p:pic>
        <p:nvPicPr>
          <p:cNvPr id="4" name="Picture 3" descr="Effetto_Dote_Tazza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2743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52160" y="46634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12. Endowment Effect — AI Software License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C3C3C"/>
                </a:solidFill>
              </a:defRPr>
            </a:pPr>
            <a:r>
              <a:t>📌 Scenario:</a:t>
            </a:r>
            <a:br/>
            <a:r>
              <a:t>Market for a rare AI diagnostic software license.</a:t>
            </a:r>
            <a:br/>
          </a:p>
          <a:p>
            <a:pPr>
              <a:defRPr sz="1200" b="1">
                <a:solidFill>
                  <a:srgbClr val="1E5AC8"/>
                </a:solidFill>
              </a:defRPr>
            </a:pPr>
            <a:r>
              <a:t>🅰️ Gruppo A / Group A:</a:t>
            </a:r>
            <a:br/>
            <a:r>
              <a:t>Owner: You were GIFTED the license.</a:t>
            </a:r>
            <a:br/>
            <a:r>
              <a:t>Minimum price (€) demanded to sell it.</a:t>
            </a:r>
            <a:br/>
          </a:p>
          <a:p>
            <a:pPr>
              <a:defRPr sz="1200" b="1">
                <a:solidFill>
                  <a:srgbClr val="C8325A"/>
                </a:solidFill>
              </a:defRPr>
            </a:pPr>
            <a:r>
              <a:t>🅱️ Gruppo B / Group B:</a:t>
            </a:r>
            <a:br/>
            <a:r>
              <a:t>Buyer: A hospital is selling the license.</a:t>
            </a:r>
            <a:br/>
            <a:r>
              <a:t>Maximum price (€) willing to pay.</a:t>
            </a:r>
            <a:br/>
          </a:p>
        </p:txBody>
      </p:sp>
      <p:pic>
        <p:nvPicPr>
          <p:cNvPr id="4" name="Picture 3" descr="Effetto_Dote_AI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2743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52160" y="46634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13. Sunk Cost Fallacy — Theater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C3C3C"/>
                </a:solidFill>
              </a:defRPr>
            </a:pPr>
            <a:r>
              <a:t>📌 Scenario:</a:t>
            </a:r>
            <a:br/>
            <a:r>
              <a:t>A severe snowstorm hits on the night of the theater performance.</a:t>
            </a:r>
            <a:br/>
          </a:p>
          <a:p>
            <a:pPr>
              <a:defRPr sz="1200" b="1">
                <a:solidFill>
                  <a:srgbClr val="1E5AC8"/>
                </a:solidFill>
              </a:defRPr>
            </a:pPr>
            <a:r>
              <a:t>🅰️ Gruppo A / Group A:</a:t>
            </a:r>
            <a:br/>
            <a:r>
              <a:t>Ticket bought for €50.</a:t>
            </a:r>
            <a:br/>
            <a:r>
              <a:t>A) Go to the theater anyway</a:t>
            </a:r>
            <a:br/>
            <a:r>
              <a:t>B) Stay home warm</a:t>
            </a:r>
            <a:br/>
          </a:p>
          <a:p>
            <a:pPr>
              <a:defRPr sz="1200" b="1">
                <a:solidFill>
                  <a:srgbClr val="C8325A"/>
                </a:solidFill>
              </a:defRPr>
            </a:pPr>
            <a:r>
              <a:t>🅱️ Gruppo B / Group B:</a:t>
            </a:r>
            <a:br/>
            <a:r>
              <a:t>Ticket received for free (€0).</a:t>
            </a:r>
            <a:br/>
            <a:r>
              <a:t>A) Go to the theater anyway</a:t>
            </a:r>
            <a:br/>
            <a:r>
              <a:t>B) Stay home warm</a:t>
            </a:r>
            <a:br/>
          </a:p>
        </p:txBody>
      </p:sp>
      <p:pic>
        <p:nvPicPr>
          <p:cNvPr id="4" name="Picture 3" descr="Costi_Sommersi_Teatro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2743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52160" y="46634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14. Sunk Cost Fallacy — AI Research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C3C3C"/>
                </a:solidFill>
              </a:defRPr>
            </a:pPr>
            <a:r>
              <a:t>📌 Scenario:</a:t>
            </a:r>
            <a:br/>
            <a:r>
              <a:t>Google releases a free superior algorithm while your team works on one.</a:t>
            </a:r>
            <a:br/>
          </a:p>
          <a:p>
            <a:pPr>
              <a:defRPr sz="1200" b="1">
                <a:solidFill>
                  <a:srgbClr val="1E5AC8"/>
                </a:solidFill>
              </a:defRPr>
            </a:pPr>
            <a:r>
              <a:t>🅰️ Gruppo A / Group A:</a:t>
            </a:r>
            <a:br/>
            <a:r>
              <a:t>Project started TODAY (0 years invested).</a:t>
            </a:r>
            <a:br/>
            <a:r>
              <a:t>A) Continue developing mine</a:t>
            </a:r>
            <a:br/>
            <a:r>
              <a:t>B) Abandon my project</a:t>
            </a:r>
            <a:br/>
          </a:p>
          <a:p>
            <a:pPr>
              <a:defRPr sz="1200" b="1">
                <a:solidFill>
                  <a:srgbClr val="C8325A"/>
                </a:solidFill>
              </a:defRPr>
            </a:pPr>
            <a:r>
              <a:t>🅱️ Gruppo B / Group B:</a:t>
            </a:r>
            <a:br/>
            <a:r>
              <a:t>Worked for 4 YEARS on the algorithm (90% done).</a:t>
            </a:r>
            <a:br/>
            <a:r>
              <a:t>A) Continue developing mine</a:t>
            </a:r>
            <a:br/>
            <a:r>
              <a:t>B) Abandon my project</a:t>
            </a:r>
            <a:br/>
          </a:p>
        </p:txBody>
      </p:sp>
      <p:pic>
        <p:nvPicPr>
          <p:cNvPr id="4" name="Picture 3" descr="Costi_Sommersi_AI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2743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52160" y="46634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15. Default Effect — Organ Donation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C3C3C"/>
                </a:solidFill>
              </a:defRPr>
            </a:pPr>
            <a:r>
              <a:t>📌 Scenario:</a:t>
            </a:r>
            <a:br/>
            <a:r>
              <a:t>Signing hospital employee onboarding consent form.</a:t>
            </a:r>
            <a:br/>
          </a:p>
          <a:p>
            <a:pPr>
              <a:defRPr sz="1200" b="1">
                <a:solidFill>
                  <a:srgbClr val="1E5AC8"/>
                </a:solidFill>
              </a:defRPr>
            </a:pPr>
            <a:r>
              <a:t>🅰️ Gruppo A / Group A:</a:t>
            </a:r>
            <a:br/>
            <a:r>
              <a:t>Opt-IN Form: [ ] Check the box if you WANT to become an organ donor.</a:t>
            </a:r>
            <a:br/>
          </a:p>
          <a:p>
            <a:pPr>
              <a:defRPr sz="1200" b="1">
                <a:solidFill>
                  <a:srgbClr val="C8325A"/>
                </a:solidFill>
              </a:defRPr>
            </a:pPr>
            <a:r>
              <a:t>🅱️ Gruppo B / Group B:</a:t>
            </a:r>
            <a:br/>
            <a:r>
              <a:t>Opt-OUT Form: [v] Check the box if you DO NOT WANT to become an organ donor.</a:t>
            </a:r>
            <a:br/>
          </a:p>
        </p:txBody>
      </p:sp>
      <p:pic>
        <p:nvPicPr>
          <p:cNvPr id="4" name="Picture 3" descr="Effetto_Default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2743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52160" y="46634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16. Associative Priming — Word Completion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C3C3C"/>
                </a:solidFill>
              </a:defRPr>
            </a:pPr>
            <a:r>
              <a:t>📌 Scenario:</a:t>
            </a:r>
            <a:br/>
            <a:r>
              <a:t>Effect of semantic priming on completing the word S O _ P.</a:t>
            </a:r>
            <a:br/>
          </a:p>
          <a:p>
            <a:pPr>
              <a:defRPr sz="1200" b="1">
                <a:solidFill>
                  <a:srgbClr val="1E5AC8"/>
                </a:solidFill>
              </a:defRPr>
            </a:pPr>
            <a:r>
              <a:t>🅰️ Gruppo A / Group A:</a:t>
            </a:r>
            <a:br/>
            <a:r>
              <a:t>Quick reading: FORK, LUNCH, HUNGER.</a:t>
            </a:r>
            <a:br/>
            <a:r>
              <a:t>Complete the word: S O _ P</a:t>
            </a:r>
            <a:br/>
          </a:p>
          <a:p>
            <a:pPr>
              <a:defRPr sz="1200" b="1">
                <a:solidFill>
                  <a:srgbClr val="C8325A"/>
                </a:solidFill>
              </a:defRPr>
            </a:pPr>
            <a:r>
              <a:t>🅱️ Gruppo B / Group B:</a:t>
            </a:r>
            <a:br/>
            <a:r>
              <a:t>Quick reading: SHOWER, FOAM, CLEAN.</a:t>
            </a:r>
            <a:br/>
            <a:r>
              <a:t>Complete the word: S O _ P</a:t>
            </a:r>
            <a:br/>
          </a:p>
        </p:txBody>
      </p:sp>
      <p:pic>
        <p:nvPicPr>
          <p:cNvPr id="4" name="Picture 3" descr="Priming_Associativo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2743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52160" y="46634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17. Illusion of Superiority — Dunning-Kruger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C3C3C"/>
                </a:solidFill>
              </a:defRPr>
            </a:pPr>
            <a:r>
              <a:t>📌 Scenario:</a:t>
            </a:r>
            <a:br/>
            <a:r>
              <a:t>Self-evaluation of personal academic ability.</a:t>
            </a:r>
            <a:br/>
          </a:p>
          <a:p>
            <a:pPr>
              <a:defRPr sz="1200" b="1">
                <a:solidFill>
                  <a:srgbClr val="1E5AC8"/>
                </a:solidFill>
              </a:defRPr>
            </a:pPr>
            <a:r>
              <a:t>🅰️ Gruppo A / Group A:</a:t>
            </a:r>
            <a:br/>
            <a:r>
              <a:t>Do you consider your academic ability above class average?</a:t>
            </a:r>
            <a:br/>
            <a:r>
              <a:t>(Above average / Average / Below average)</a:t>
            </a:r>
            <a:br/>
          </a:p>
          <a:p>
            <a:pPr>
              <a:defRPr sz="1200" b="1">
                <a:solidFill>
                  <a:srgbClr val="C8325A"/>
                </a:solidFill>
              </a:defRPr>
            </a:pPr>
            <a:r>
              <a:t>🅱️ Gruppo B / Group B:</a:t>
            </a:r>
            <a:br/>
            <a:r>
              <a:t>Do you consider your academic ability superior to Giorgio Parisi (Nobel)?</a:t>
            </a:r>
            <a:br/>
            <a:r>
              <a:t>(Above his / Equal to his / Below his)</a:t>
            </a:r>
            <a:br/>
          </a:p>
        </p:txBody>
      </p:sp>
      <p:pic>
        <p:nvPicPr>
          <p:cNvPr id="4" name="Picture 3" descr="Dunning_Kruge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2743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52160" y="46634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18. WYSIATI — What You See Is All There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C3C3C"/>
                </a:solidFill>
              </a:defRPr>
            </a:pPr>
            <a:r>
              <a:t>📌 Scenario:</a:t>
            </a:r>
            <a:br/>
            <a:r>
              <a:t>Criminal trial verdict based on one-sided evidence.</a:t>
            </a:r>
            <a:br/>
          </a:p>
          <a:p>
            <a:pPr>
              <a:defRPr sz="1200" b="1">
                <a:solidFill>
                  <a:srgbClr val="1E5AC8"/>
                </a:solidFill>
              </a:defRPr>
            </a:pPr>
            <a:r>
              <a:t>🅰️ Gruppo A / Group A:</a:t>
            </a:r>
            <a:br/>
            <a:r>
              <a:t>Presented only with Defense testimony.</a:t>
            </a:r>
            <a:br/>
            <a:r>
              <a:t>Estimate guilt (0-100) and confidence (1-10).</a:t>
            </a:r>
            <a:br/>
          </a:p>
          <a:p>
            <a:pPr>
              <a:defRPr sz="1200" b="1">
                <a:solidFill>
                  <a:srgbClr val="C8325A"/>
                </a:solidFill>
              </a:defRPr>
            </a:pPr>
            <a:r>
              <a:t>🅱️ Gruppo B / Group B:</a:t>
            </a:r>
            <a:br/>
            <a:r>
              <a:t>Presented only with Prosecution testimony.</a:t>
            </a:r>
            <a:br/>
            <a:r>
              <a:t>Estimate guilt (0-100) and confidence (1-10).</a:t>
            </a:r>
            <a:br/>
          </a:p>
        </p:txBody>
      </p:sp>
      <p:pic>
        <p:nvPicPr>
          <p:cNvPr id="4" name="Picture 3" descr="WYSIATI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2743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52160" y="46634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19. Focusing Illusion — Life Satisfaction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C3C3C"/>
                </a:solidFill>
              </a:defRPr>
            </a:pPr>
            <a:r>
              <a:t>📌 Scenario:</a:t>
            </a:r>
            <a:br/>
            <a:r>
              <a:t>Survey on happiness and dating frequency.</a:t>
            </a:r>
            <a:br/>
          </a:p>
          <a:p>
            <a:pPr>
              <a:defRPr sz="1200" b="1">
                <a:solidFill>
                  <a:srgbClr val="1E5AC8"/>
                </a:solidFill>
              </a:defRPr>
            </a:pPr>
            <a:r>
              <a:t>🅰️ Gruppo A / Group A:</a:t>
            </a:r>
            <a:br/>
            <a:r>
              <a:t>1. How happy are you with your life (1-10)?</a:t>
            </a:r>
            <a:br/>
            <a:r>
              <a:t>2. How many dates in the last month?</a:t>
            </a:r>
            <a:br/>
          </a:p>
          <a:p>
            <a:pPr>
              <a:defRPr sz="1200" b="1">
                <a:solidFill>
                  <a:srgbClr val="C8325A"/>
                </a:solidFill>
              </a:defRPr>
            </a:pPr>
            <a:r>
              <a:t>🅱️ Gruppo B / Group B:</a:t>
            </a:r>
            <a:br/>
            <a:r>
              <a:t>1. How many dates in the last month?</a:t>
            </a:r>
            <a:br/>
            <a:r>
              <a:t>2. How happy are you with your life (1-10)?</a:t>
            </a:r>
            <a:br/>
          </a:p>
        </p:txBody>
      </p:sp>
      <p:pic>
        <p:nvPicPr>
          <p:cNvPr id="4" name="Picture 3" descr="Illusione_Focalizzazione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2743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52160" y="46634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20. Base Rate Neglect — Diagnostic Paradox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C3C3C"/>
                </a:solidFill>
              </a:defRPr>
            </a:pPr>
            <a:r>
              <a:t>📌 Scenario:</a:t>
            </a:r>
            <a:br/>
            <a:r>
              <a:t>A rare disease affects 1% of the population. A test is 95% accurate. You test POSITIVE.</a:t>
            </a:r>
            <a:br/>
          </a:p>
          <a:p>
            <a:pPr>
              <a:defRPr sz="1300" b="1">
                <a:solidFill>
                  <a:srgbClr val="1E965A"/>
                </a:solidFill>
              </a:defRPr>
            </a:pPr>
            <a:r>
              <a:t>❓ Domanda / Question:</a:t>
            </a:r>
            <a:br/>
            <a:r>
              <a:t>What is the actual probability (0-100%) that you actually have the disease?</a:t>
            </a:r>
            <a:br/>
            <a:r>
              <a:t>(True statistical answer: ~16%)</a:t>
            </a:r>
            <a:br/>
          </a:p>
        </p:txBody>
      </p:sp>
      <p:pic>
        <p:nvPicPr>
          <p:cNvPr id="4" name="Picture 3" descr="Base_Rate_Neglect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2743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52160" y="46634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21. Decoy Effect — The Economist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C3C3C"/>
                </a:solidFill>
              </a:defRPr>
            </a:pPr>
            <a:r>
              <a:t>📌 Scenario:</a:t>
            </a:r>
            <a:br/>
            <a:r>
              <a:t>Choose a subscription to The Economist:</a:t>
            </a:r>
            <a:br/>
          </a:p>
          <a:p>
            <a:pPr>
              <a:defRPr sz="1300" b="1">
                <a:solidFill>
                  <a:srgbClr val="1E965A"/>
                </a:solidFill>
              </a:defRPr>
            </a:pPr>
            <a:r>
              <a:t>❓ Domanda / Question:</a:t>
            </a:r>
            <a:br/>
            <a:r>
              <a:t>A) Web Only ($50)</a:t>
            </a:r>
            <a:br/>
            <a:r>
              <a:t>B) Print Only ($120 - Decoy Option)</a:t>
            </a:r>
            <a:br/>
            <a:r>
              <a:t>C) Web + Print ($120)</a:t>
            </a:r>
            <a:br/>
          </a:p>
        </p:txBody>
      </p:sp>
      <p:pic>
        <p:nvPicPr>
          <p:cNvPr id="4" name="Picture 3" descr="L_Esca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2743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52160" y="46634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22. Regression to the Mean — Praise vs Punishment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C3C3C"/>
                </a:solidFill>
              </a:defRPr>
            </a:pPr>
            <a:r>
              <a:t>📌 Scenario:</a:t>
            </a:r>
            <a:br/>
            <a:r>
              <a:t>Flight instructors notice reprimanding after a bad landing leads to a better landing, while praising leads to a worse one.</a:t>
            </a:r>
            <a:br/>
          </a:p>
          <a:p>
            <a:pPr>
              <a:defRPr sz="1300" b="1">
                <a:solidFill>
                  <a:srgbClr val="1E965A"/>
                </a:solidFill>
              </a:defRPr>
            </a:pPr>
            <a:r>
              <a:t>❓ Domanda / Question:</a:t>
            </a:r>
            <a:br/>
            <a:r>
              <a:t>A) Psychological intuition (praise spoils, punishment works)</a:t>
            </a:r>
            <a:br/>
            <a:r>
              <a:t>B) Statistical effect (regression to the mean)</a:t>
            </a:r>
            <a:br/>
          </a:p>
        </p:txBody>
      </p:sp>
      <p:pic>
        <p:nvPicPr>
          <p:cNvPr id="4" name="Picture 3" descr="Regressione_Media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2743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52160" y="46634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