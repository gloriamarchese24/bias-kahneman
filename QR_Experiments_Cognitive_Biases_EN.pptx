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Interactive Lesson on Cognitive Biases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22 Kahneman Experiments</a:t>
            </a:r>
          </a:p>
          <a:p>
            <a:r>
              <a:t>(Scan the QR code to answer in real-time!)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1. Car Crash Experiment (Loftus &amp; Palmer)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False Memories &amp; Misinformation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Watch the short video clip of the car accident shown in class.</a:t>
            </a:r>
            <a:br/>
            <a:br/>
            <a:r>
              <a:t>Then, scan the QR code to estimate the speed of the vehicles and answer the questions on your smartphone.</a:t>
            </a:r>
          </a:p>
        </p:txBody>
      </p:sp>
      <p:pic>
        <p:nvPicPr>
          <p:cNvPr id="5" name="Picture 4" descr="Macchin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2. The Asian Disease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Framing Effect (Kahneman &amp; Tversky)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An unusual contagious disease is expected to kill 600 people. Two alternative healthcare programs have been proposed to combat the disease.</a:t>
            </a:r>
            <a:br/>
            <a:br/>
            <a:r>
              <a:t>Scan the QR code with your smartphone to choose the best program according to you.</a:t>
            </a:r>
          </a:p>
        </p:txBody>
      </p:sp>
      <p:pic>
        <p:nvPicPr>
          <p:cNvPr id="5" name="Picture 4" descr="Malattia_Asiatic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3. Robotic AI Surgery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Medical Framing Effect (Positive vs Negative)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A new AI robotic surgical software is set to perform a high-risk operation on 100 critical patients.</a:t>
            </a:r>
            <a:br/>
            <a:br/>
            <a:r>
              <a:t>Scan the QR code to read the statistical data and make your decision.</a:t>
            </a:r>
          </a:p>
        </p:txBody>
      </p:sp>
      <p:pic>
        <p:nvPicPr>
          <p:cNvPr id="5" name="Picture 4" descr="Framing_A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4. Mahatma Gandhi Age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Anchoring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Test your knowledge with two questions regarding Mahatma Gandhi's life and age at death.</a:t>
            </a:r>
            <a:br/>
            <a:br/>
            <a:r>
              <a:t>Scan the QR code with your smartphone to enter your estimates.</a:t>
            </a:r>
          </a:p>
        </p:txBody>
      </p:sp>
      <p:pic>
        <p:nvPicPr>
          <p:cNvPr id="5" name="Picture 4" descr="Ancoraggio_Gandh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5. Hospital Misdiagnosis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Irrelevant Numerical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Observe the number spun on the wheel of fortune shown in class.</a:t>
            </a:r>
            <a:br/>
            <a:br/>
            <a:r>
              <a:t>Then, scan the QR code to provide your estimate of the percentage of hospital misdiagnoses.</a:t>
            </a:r>
          </a:p>
        </p:txBody>
      </p:sp>
      <p:pic>
        <p:nvPicPr>
          <p:cNvPr id="5" name="Picture 4" descr="Ancoraggio_Roulett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6. Financial Decision &amp; Risk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Loss Aversion &amp; Prospect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You are presented with a financial scenario involving an initial bonus and two alternative financial options.</a:t>
            </a:r>
            <a:br/>
            <a:br/>
            <a:r>
              <a:t>Scan the QR code on your smartphone to pick your preferred option.</a:t>
            </a:r>
          </a:p>
        </p:txBody>
      </p:sp>
      <p:pic>
        <p:nvPicPr>
          <p:cNvPr id="5" name="Picture 4" descr="Avversione_Perdit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7. Scientific Statement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Illusion of Truth &amp; Cognitive 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with your smartphone camera to read the scientific statement presented and rate how true it seems to you (1-10).</a:t>
            </a:r>
          </a:p>
        </p:txBody>
      </p:sp>
      <p:pic>
        <p:nvPicPr>
          <p:cNvPr id="5" name="Picture 4" descr="Illusione_Verit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8. Personality Inventory (Assertiveness)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Availability Heuristic &amp; Subjective Ease of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from your smartphone to complete a short memory recall exercise on your past behaviors and rate your personal level of assertiveness.</a:t>
            </a:r>
          </a:p>
        </p:txBody>
      </p:sp>
      <p:pic>
        <p:nvPicPr>
          <p:cNvPr id="5" name="Picture 4" descr="Euristica_Disponibilit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9. Linda's Profile (Kahneman &amp; Tversky)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Conjunction Fallacy &amp; Representativeness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Linda is 31, single, outspoken, bright, philosophy major, concerned with social justice and anti-nuclear demonstrations.</a:t>
            </a:r>
            <a:br/>
            <a:br/>
            <a:r>
              <a:t>Scan the QR code to estimate the probability of her current occupation.</a:t>
            </a:r>
          </a:p>
        </p:txBody>
      </p:sp>
      <p:pic>
        <p:nvPicPr>
          <p:cNvPr id="5" name="Picture 4" descr="Problema_Lind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10. Workplace Profile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Halo Effect &amp; Order Effect (Asch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to read the personality description of a colleague provided by his coworkers and rate your overall impression of him.</a:t>
            </a:r>
          </a:p>
        </p:txBody>
      </p:sp>
      <p:pic>
        <p:nvPicPr>
          <p:cNvPr id="5" name="Picture 4" descr="Effetto_Alo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11. The University Mug Market (Thaler)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Endowment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Participate in the market simulation for an official university mug.</a:t>
            </a:r>
            <a:br/>
            <a:br/>
            <a:r>
              <a:t>Scan the QR code with your smartphone to discover your role and submit your price.</a:t>
            </a:r>
          </a:p>
        </p:txBody>
      </p:sp>
      <p:pic>
        <p:nvPicPr>
          <p:cNvPr id="5" name="Picture 4" descr="Effetto_Dote_Tazz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12. AI Diagnostic Software License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Endowment Effect in Digital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Participate in the market negotiation for a rare AI diagnostic software license.</a:t>
            </a:r>
            <a:br/>
            <a:br/>
            <a:r>
              <a:t>Scan the QR code to discover your negotiation role and enter your valuation in Euros (€).</a:t>
            </a:r>
          </a:p>
        </p:txBody>
      </p:sp>
      <p:pic>
        <p:nvPicPr>
          <p:cNvPr id="5" name="Picture 4" descr="Effetto_Dote_A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13. The Theater Ticket Scenario (Kahneman)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Sunk Cost Fallacy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It is the evening of a theater show you really want to see, but a severe snowstorm suddenly strikes.</a:t>
            </a:r>
            <a:br/>
            <a:br/>
            <a:r>
              <a:t>Scan the QR code from your smartphone to indicate what you decide to do.</a:t>
            </a:r>
          </a:p>
        </p:txBody>
      </p:sp>
      <p:pic>
        <p:nvPicPr>
          <p:cNvPr id="5" name="Picture 4" descr="Costi_Sommersi_Teatr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14. AI Research Project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Sunk Cost Fallacy in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You lead an AI research team working on a new diagnostic algorithm. During development, Google releases a free superior algorithm.</a:t>
            </a:r>
            <a:br/>
            <a:br/>
            <a:r>
              <a:t>Scan the QR code to decide the future of your project.</a:t>
            </a:r>
          </a:p>
        </p:txBody>
      </p:sp>
      <p:pic>
        <p:nvPicPr>
          <p:cNvPr id="5" name="Picture 4" descr="Costi_Sommersi_A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15. Hospital Employee Onboarding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Default Effect &amp; Choice Architecture (Nudge)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Imagine completing your onboarding consent forms as a new hospital employee.</a:t>
            </a:r>
            <a:br/>
            <a:br/>
            <a:r>
              <a:t>Scan the QR code with your smartphone to make your choice on the form.</a:t>
            </a:r>
          </a:p>
        </p:txBody>
      </p:sp>
      <p:pic>
        <p:nvPicPr>
          <p:cNvPr id="5" name="Picture 4" descr="Effetto_Defaul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16. Word Completion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Associative / Conceptual Priming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to quickly read the trigger words that will appear on your screen and complete the missing word as fast as possible.</a:t>
            </a:r>
          </a:p>
        </p:txBody>
      </p:sp>
      <p:pic>
        <p:nvPicPr>
          <p:cNvPr id="5" name="Picture 4" descr="Priming_Associativ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17. Academic Ability Self-Assessment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Illusion of Superiority &amp; Dunning-Kruger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with your smartphone to anonymously answer a self-evaluation question about your academic abilities.</a:t>
            </a:r>
          </a:p>
        </p:txBody>
      </p:sp>
      <p:pic>
        <p:nvPicPr>
          <p:cNvPr id="5" name="Picture 4" descr="Dunning_Kruge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18. Court Trial Verdict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WYSIATI - What You See Is All There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to read the court trial testimony provided and enter your verdict on guilt and your level of confidence.</a:t>
            </a:r>
          </a:p>
        </p:txBody>
      </p:sp>
      <p:pic>
        <p:nvPicPr>
          <p:cNvPr id="5" name="Picture 4" descr="WYSIAT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19. Personal Wellbeing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Focusing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Scan the QR code to complete a short survey regarding your general wellbeing and life satisfaction.</a:t>
            </a:r>
          </a:p>
        </p:txBody>
      </p:sp>
      <p:pic>
        <p:nvPicPr>
          <p:cNvPr id="5" name="Picture 4" descr="Illusione_Focalizzazio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20. The Diagnostic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Base Rate Neglect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A rare disease affects 1% of the population. A diagnostic test is 95% accurate. You test POSITIVE.</a:t>
            </a:r>
            <a:br/>
            <a:br/>
            <a:r>
              <a:t>Scan the QR code to estimate the actual probability of having the condition.</a:t>
            </a:r>
          </a:p>
        </p:txBody>
      </p:sp>
      <p:pic>
        <p:nvPicPr>
          <p:cNvPr id="5" name="Picture 4" descr="Base_Rate_Neglec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21. Subscription Choice (The Economist)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Decoy Effect &amp; Asymmetric Dominance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You need to select a magazine subscription offer for The Economist that you find most advantageous.</a:t>
            </a:r>
            <a:br/>
            <a:br/>
            <a:r>
              <a:t>Scan the QR code with your smartphone to submit your choice.</a:t>
            </a:r>
          </a:p>
        </p:txBody>
      </p:sp>
      <p:pic>
        <p:nvPicPr>
          <p:cNvPr id="5" name="Picture 4" descr="L_Esc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22. Flight Instruction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584"/>
                </a:solidFill>
              </a:defRPr>
            </a:pPr>
            <a:r>
              <a:t>🧠 Cognitive Bias: Causal Illusion vs Regression to the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23232"/>
                </a:solidFill>
              </a:defRPr>
            </a:pPr>
            <a:r>
              <a:t>📌 Context &amp; Instructions:</a:t>
            </a:r>
            <a:br/>
            <a:r>
              <a:t>Flight instructors notice reprimanding after a bad landing leads to a better next landing, while praise leads to a worse one.</a:t>
            </a:r>
            <a:br/>
            <a:br/>
            <a:r>
              <a:t>Scan the QR code to evaluate why this phenomenon occurs.</a:t>
            </a:r>
          </a:p>
        </p:txBody>
      </p:sp>
      <p:pic>
        <p:nvPicPr>
          <p:cNvPr id="5" name="Picture 4" descr="Regressione_Medi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754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Scan the QR code with your smartphone camera to participate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