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Interactive Lesson on Cognitive Biases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All 22 Kahneman Experiments</a:t>
            </a:r>
          </a:p>
          <a:p>
            <a:r>
              <a:t>(Scan the QR code to answer in real-time!)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1. Car Crash Experiment (Loftus &amp; Palmer)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Cognitive Bias: False Memories &amp; Misinformation Effect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Context &amp; Instructions:</a:t>
            </a:r>
            <a:br/>
            <a:r>
              <a:t>Watch the short video clip of the car accident shown in class.</a:t>
            </a:r>
            <a:br/>
            <a:br/>
            <a:r>
              <a:t>Then, scan the QR code to estimate the speed of the vehicles and answer the questions on your smartphone.</a:t>
            </a:r>
          </a:p>
        </p:txBody>
      </p:sp>
      <p:pic>
        <p:nvPicPr>
          <p:cNvPr id="5" name="Picture 4" descr="Macchina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Scan the QR code with your smartphone camera to participate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2. The Asian Disease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Cognitive Bias: Framing Effect (Kahneman &amp; Tversky)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Context &amp; Instructions:</a:t>
            </a:r>
            <a:br/>
            <a:r>
              <a:t>An unusual contagious disease is expected to kill 600 people. Two alternative healthcare programs have been proposed to combat the disease.</a:t>
            </a:r>
            <a:br/>
            <a:br/>
            <a:r>
              <a:t>Scan the QR code with your smartphone to choose the best program according to you.</a:t>
            </a:r>
          </a:p>
        </p:txBody>
      </p:sp>
      <p:pic>
        <p:nvPicPr>
          <p:cNvPr id="5" name="Picture 4" descr="Malattia_Asiatica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Scan the QR code with your smartphone camera to participate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3. Robotic AI Surgery Authorization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Cognitive Bias: Medical Framing Effect (Positive vs Negative)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Context &amp; Instructions:</a:t>
            </a:r>
            <a:br/>
            <a:r>
              <a:t>A new AI robotic surgical software is set to perform a high-risk operation on 100 critical patients.</a:t>
            </a:r>
            <a:br/>
            <a:br/>
            <a:r>
              <a:t>Scan the QR code to read the statistical data and make your decision.</a:t>
            </a:r>
          </a:p>
        </p:txBody>
      </p:sp>
      <p:pic>
        <p:nvPicPr>
          <p:cNvPr id="5" name="Picture 4" descr="Framing_AI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Scan the QR code with your smartphone camera to participate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4. Mahatma Gandhi Age Estimation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Cognitive Bias: Anchoring Effect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Context &amp; Instructions:</a:t>
            </a:r>
            <a:br/>
            <a:r>
              <a:t>Test your knowledge with two questions regarding Mahatma Gandhi's life and age at death.</a:t>
            </a:r>
            <a:br/>
            <a:br/>
            <a:r>
              <a:t>Scan the QR code with your smartphone to enter your estimates.</a:t>
            </a:r>
          </a:p>
        </p:txBody>
      </p:sp>
      <p:pic>
        <p:nvPicPr>
          <p:cNvPr id="5" name="Picture 4" descr="Ancoraggio_Gandhi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Scan the QR code with your smartphone camera to participate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5. Hospital Misdiagnosis Estimation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Cognitive Bias: Irrelevant Numerical Anchoring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Context &amp; Instructions:</a:t>
            </a:r>
            <a:br/>
            <a:r>
              <a:t>Observe the number spun on the wheel of fortune shown in class.</a:t>
            </a:r>
            <a:br/>
            <a:br/>
            <a:r>
              <a:t>Then, scan the QR code to provide your estimate of the percentage of hospital misdiagnoses.</a:t>
            </a:r>
          </a:p>
        </p:txBody>
      </p:sp>
      <p:pic>
        <p:nvPicPr>
          <p:cNvPr id="5" name="Picture 4" descr="Ancoraggio_Roulette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Scan the QR code with your smartphone camera to participate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6. Financial Decision &amp; Risk 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Cognitive Bias: Loss Aversion &amp; Prospect 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Context &amp; Instructions:</a:t>
            </a:r>
            <a:br/>
            <a:r>
              <a:t>You are presented with a financial scenario involving an initial bonus and two alternative financial options.</a:t>
            </a:r>
            <a:br/>
            <a:br/>
            <a:r>
              <a:t>Scan the QR code on your smartphone to pick your preferred option.</a:t>
            </a:r>
          </a:p>
        </p:txBody>
      </p:sp>
      <p:pic>
        <p:nvPicPr>
          <p:cNvPr id="5" name="Picture 4" descr="Avversione_Perdite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Scan the QR code with your smartphone camera to participate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7. Scientific Statement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Cognitive Bias: Illusion of Truth &amp; Cognitive Ease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Context &amp; Instructions:</a:t>
            </a:r>
            <a:br/>
            <a:r>
              <a:t>Scan the QR code with your smartphone camera to read the scientific statement presented and rate how true it seems to you (1-10).</a:t>
            </a:r>
          </a:p>
        </p:txBody>
      </p:sp>
      <p:pic>
        <p:nvPicPr>
          <p:cNvPr id="5" name="Picture 4" descr="Illusione_Verita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Scan the QR code with your smartphone camera to participate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8. Personality Inventory (Assertiveness)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Cognitive Bias: Availability Heuristic &amp; Subjective Ease of Recall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Context &amp; Instructions:</a:t>
            </a:r>
            <a:br/>
            <a:r>
              <a:t>Scan the QR code from your smartphone to complete a short memory recall exercise on your past behaviors and rate your personal level of assertiveness.</a:t>
            </a:r>
          </a:p>
        </p:txBody>
      </p:sp>
      <p:pic>
        <p:nvPicPr>
          <p:cNvPr id="5" name="Picture 4" descr="Euristica_Disponibilita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Scan the QR code with your smartphone camera to participate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9. Linda's Profile (Kahneman &amp; Tversky)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Cognitive Bias: Conjunction Fallacy &amp; Representativeness Heuristic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Context &amp; Instructions:</a:t>
            </a:r>
            <a:br/>
            <a:r>
              <a:t>Linda is 31, single, outspoken, bright, philosophy major, concerned with social justice and anti-nuclear demonstrations.</a:t>
            </a:r>
            <a:br/>
            <a:br/>
            <a:r>
              <a:t>Scan the QR code to estimate the probability of her current occupation.</a:t>
            </a:r>
          </a:p>
        </p:txBody>
      </p:sp>
      <p:pic>
        <p:nvPicPr>
          <p:cNvPr id="5" name="Picture 4" descr="Problema_Linda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Scan the QR code with your smartphone camera to participate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10. Workplace Profile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Cognitive Bias: Halo Effect &amp; Order Effect (Asch Model)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Context &amp; Instructions:</a:t>
            </a:r>
            <a:br/>
            <a:r>
              <a:t>Scan the QR code to read the personality description of a colleague provided by his coworkers and rate your overall impression of him.</a:t>
            </a:r>
          </a:p>
        </p:txBody>
      </p:sp>
      <p:pic>
        <p:nvPicPr>
          <p:cNvPr id="5" name="Picture 4" descr="Effetto_Alone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Scan the QR code with your smartphone camera to participate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11. The University Mug Market (Thaler)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Cognitive Bias: Endowment Effect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Context &amp; Instructions:</a:t>
            </a:r>
            <a:br/>
            <a:r>
              <a:t>Participate in the market simulation for an official university mug.</a:t>
            </a:r>
            <a:br/>
            <a:br/>
            <a:r>
              <a:t>Scan the QR code with your smartphone to discover your role and submit your price.</a:t>
            </a:r>
          </a:p>
        </p:txBody>
      </p:sp>
      <p:pic>
        <p:nvPicPr>
          <p:cNvPr id="5" name="Picture 4" descr="Effetto_Dote_Tazza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Scan the QR code with your smartphone camera to participate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12. AI Diagnostic Software License Market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Cognitive Bias: Endowment Effect in Digital Assets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Context &amp; Instructions:</a:t>
            </a:r>
            <a:br/>
            <a:r>
              <a:t>Participate in the market negotiation for a rare AI diagnostic software license.</a:t>
            </a:r>
            <a:br/>
            <a:br/>
            <a:r>
              <a:t>Scan the QR code to discover your negotiation role and enter your valuation in Euros (€).</a:t>
            </a:r>
          </a:p>
        </p:txBody>
      </p:sp>
      <p:pic>
        <p:nvPicPr>
          <p:cNvPr id="5" name="Picture 4" descr="Effetto_Dote_AI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Scan the QR code with your smartphone camera to participate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13. The Theater Ticket Scenario (Kahneman)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Cognitive Bias: Sunk Cost Fallacy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Context &amp; Instructions:</a:t>
            </a:r>
            <a:br/>
            <a:r>
              <a:t>It is the evening of a theater show you really want to see, but a severe snowstorm suddenly strikes.</a:t>
            </a:r>
            <a:br/>
            <a:br/>
            <a:r>
              <a:t>Scan the QR code from your smartphone to indicate what you decide to do.</a:t>
            </a:r>
          </a:p>
        </p:txBody>
      </p:sp>
      <p:pic>
        <p:nvPicPr>
          <p:cNvPr id="5" name="Picture 4" descr="Costi_Sommersi_Teatro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Scan the QR code with your smartphone camera to participate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14. AI Research Project Management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Cognitive Bias: Sunk Cost Fallacy in R&amp;D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Context &amp; Instructions:</a:t>
            </a:r>
            <a:br/>
            <a:r>
              <a:t>You lead an AI research team working on a new diagnostic algorithm. During development, Google releases a free superior algorithm.</a:t>
            </a:r>
            <a:br/>
            <a:br/>
            <a:r>
              <a:t>Scan the QR code to decide the future of your project.</a:t>
            </a:r>
          </a:p>
        </p:txBody>
      </p:sp>
      <p:pic>
        <p:nvPicPr>
          <p:cNvPr id="5" name="Picture 4" descr="Costi_Sommersi_AI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Scan the QR code with your smartphone camera to participate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15. Hospital Employee Onboarding 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Cognitive Bias: Default Effect &amp; Choice Architecture (Nudge)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Context &amp; Instructions:</a:t>
            </a:r>
            <a:br/>
            <a:r>
              <a:t>Imagine completing your onboarding consent forms as a new hospital employee.</a:t>
            </a:r>
            <a:br/>
            <a:br/>
            <a:r>
              <a:t>Scan the QR code with your smartphone to make your choice on the form.</a:t>
            </a:r>
          </a:p>
        </p:txBody>
      </p:sp>
      <p:pic>
        <p:nvPicPr>
          <p:cNvPr id="5" name="Picture 4" descr="Effetto_Default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Scan the QR code with your smartphone camera to participate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16. Word Completion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Cognitive Bias: Associative / Conceptual Priming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Context &amp; Instructions:</a:t>
            </a:r>
            <a:br/>
            <a:r>
              <a:t>Scan the QR code to quickly read the trigger words that will appear on your screen and complete the missing word as fast as possible.</a:t>
            </a:r>
          </a:p>
        </p:txBody>
      </p:sp>
      <p:pic>
        <p:nvPicPr>
          <p:cNvPr id="5" name="Picture 4" descr="Priming_Associativo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Scan the QR code with your smartphone camera to participate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17. Academic Ability Self-Assessment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Cognitive Bias: Illusion of Superiority &amp; Dunning-Kruger Effect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Context &amp; Instructions:</a:t>
            </a:r>
            <a:br/>
            <a:r>
              <a:t>Scan the QR code with your smartphone to anonymously answer a self-evaluation question about your academic abilities.</a:t>
            </a:r>
          </a:p>
        </p:txBody>
      </p:sp>
      <p:pic>
        <p:nvPicPr>
          <p:cNvPr id="5" name="Picture 4" descr="Dunning_Kruger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Scan the QR code with your smartphone camera to participate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18. WYSIATI — Hypothesis Persistence (Bruner &amp; Potter)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Cognitive Bias: WYSIATI ('What You See Is All There Is') &amp; Belief Perseverance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Context &amp; Instructions:</a:t>
            </a:r>
            <a:br/>
            <a:r>
              <a:t>Observe the image shown on your smartphone after scanning the QR code.</a:t>
            </a:r>
            <a:br/>
            <a:br/>
            <a:r>
              <a:t>In Group A the image sharpens smoothly and continuously (video-like over 8s); in Group B it transitions through 4 discrete step frames (discrete jumps every 2s).</a:t>
            </a:r>
          </a:p>
        </p:txBody>
      </p:sp>
      <p:pic>
        <p:nvPicPr>
          <p:cNvPr id="5" name="Picture 4" descr="WYSIATI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Scan the QR code with your smartphone camera to participate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19. Personal Wellbeing Survey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Cognitive Bias: Focusing Illusion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Context &amp; Instructions:</a:t>
            </a:r>
            <a:br/>
            <a:r>
              <a:t>Scan the QR code to complete a short survey regarding your general wellbeing and life satisfaction.</a:t>
            </a:r>
          </a:p>
        </p:txBody>
      </p:sp>
      <p:pic>
        <p:nvPicPr>
          <p:cNvPr id="5" name="Picture 4" descr="Illusione_Focalizzazione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Scan the QR code with your smartphone camera to participate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20. The Diagnostic Paradox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Cognitive Bias: Base Rate Neglect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Context &amp; Instructions:</a:t>
            </a:r>
            <a:br/>
            <a:r>
              <a:t>A rare disease affects 1% of the population. A diagnostic test is 95% accurate. You test POSITIVE.</a:t>
            </a:r>
            <a:br/>
            <a:br/>
            <a:r>
              <a:t>Scan the QR code to estimate the actual probability of having the condition.</a:t>
            </a:r>
          </a:p>
        </p:txBody>
      </p:sp>
      <p:pic>
        <p:nvPicPr>
          <p:cNvPr id="5" name="Picture 4" descr="Base_Rate_Neglect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Scan the QR code with your smartphone camera to participate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21. Subscription Choice (The Economist)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Cognitive Bias: Decoy Effect &amp; Asymmetric Dominance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Context &amp; Instructions:</a:t>
            </a:r>
            <a:br/>
            <a:r>
              <a:t>You need to select a magazine subscription offer for The Economist that you find most advantageous.</a:t>
            </a:r>
            <a:br/>
            <a:br/>
            <a:r>
              <a:t>Scan the QR code with your smartphone to submit your choice.</a:t>
            </a:r>
          </a:p>
        </p:txBody>
      </p:sp>
      <p:pic>
        <p:nvPicPr>
          <p:cNvPr id="5" name="Picture 4" descr="L_Esca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Scan the QR code with your smartphone camera to participate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22. Flight Instruction Effect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Cognitive Bias: Causal Illusion vs Regression to the Mean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Context &amp; Instructions:</a:t>
            </a:r>
            <a:br/>
            <a:r>
              <a:t>Flight instructors notice reprimanding after a bad landing leads to a better next landing, while praise leads to a worse one.</a:t>
            </a:r>
            <a:br/>
            <a:br/>
            <a:r>
              <a:t>Scan the QR code to evaluate why this phenomenon occurs.</a:t>
            </a:r>
          </a:p>
        </p:txBody>
      </p:sp>
      <p:pic>
        <p:nvPicPr>
          <p:cNvPr id="5" name="Picture 4" descr="Regressione_Media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Scan the QR code with your smartphone camera to participate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23. The 2 - 4 - 6 Task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Cognitive Bias: Confirmation Bias &amp; Hypothesis Testing (Wason, 1960)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Context &amp; Instructions:</a:t>
            </a:r>
            <a:br/>
            <a:r>
              <a:t>You are shown the number sequence 2 - 4 - 6, which follows a secret rule created by the instructor.</a:t>
            </a:r>
            <a:br/>
            <a:br/>
            <a:r>
              <a:t>Scan the QR code to choose which triplet of numbers you will test first to discover the rule.</a:t>
            </a:r>
          </a:p>
        </p:txBody>
      </p:sp>
      <p:pic>
        <p:nvPicPr>
          <p:cNvPr id="5" name="Picture 4" descr="Bias_Conferma_Wason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Scan the QR code with your smartphone camera to participate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